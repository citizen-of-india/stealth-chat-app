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7CC"/>
    <a:srgbClr val="115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>
      <p:cViewPr varScale="1">
        <p:scale>
          <a:sx n="108" d="100"/>
          <a:sy n="108" d="100"/>
        </p:scale>
        <p:origin x="782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5800" y="185737"/>
            <a:ext cx="647699" cy="6572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9142" y="1665295"/>
            <a:ext cx="3460115" cy="298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1154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41419" y="1764498"/>
            <a:ext cx="3546475" cy="3014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1154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05800" y="185737"/>
            <a:ext cx="647699" cy="657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330" y="150123"/>
            <a:ext cx="809624" cy="6191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7765" y="153114"/>
            <a:ext cx="523874" cy="52387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56906" y="111337"/>
            <a:ext cx="857249" cy="8286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0299" y="544826"/>
            <a:ext cx="4533900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9156" y="2314431"/>
            <a:ext cx="4864100" cy="145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jpg"/><Relationship Id="rId7" Type="http://schemas.openxmlformats.org/officeDocument/2006/relationships/image" Target="../media/image1.jpg"/><Relationship Id="rId12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0.png"/><Relationship Id="rId5" Type="http://schemas.openxmlformats.org/officeDocument/2006/relationships/image" Target="../media/image8.jpg"/><Relationship Id="rId10" Type="http://schemas.openxmlformats.org/officeDocument/2006/relationships/image" Target="../media/image3.jpg"/><Relationship Id="rId4" Type="http://schemas.openxmlformats.org/officeDocument/2006/relationships/image" Target="../media/image7.jpg"/><Relationship Id="rId9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61471" y="339070"/>
            <a:ext cx="933450" cy="949325"/>
            <a:chOff x="7661471" y="339070"/>
            <a:chExt cx="933450" cy="9493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1471" y="916409"/>
              <a:ext cx="933449" cy="3714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5069" y="339070"/>
              <a:ext cx="638174" cy="60007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36673" y="783836"/>
            <a:ext cx="1638299" cy="36194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298536" y="404870"/>
            <a:ext cx="2314575" cy="352425"/>
            <a:chOff x="3298536" y="404870"/>
            <a:chExt cx="2314575" cy="35242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6283" y="404870"/>
              <a:ext cx="2076633" cy="2961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98536" y="462000"/>
              <a:ext cx="2314574" cy="29527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7256906" y="111337"/>
            <a:ext cx="1685289" cy="1453515"/>
            <a:chOff x="7256906" y="111337"/>
            <a:chExt cx="1685289" cy="1453515"/>
          </a:xfrm>
        </p:grpSpPr>
        <p:sp>
          <p:nvSpPr>
            <p:cNvPr id="10" name="object 10"/>
            <p:cNvSpPr/>
            <p:nvPr/>
          </p:nvSpPr>
          <p:spPr>
            <a:xfrm>
              <a:off x="7461665" y="200672"/>
              <a:ext cx="1422400" cy="1363980"/>
            </a:xfrm>
            <a:custGeom>
              <a:avLst/>
              <a:gdLst/>
              <a:ahLst/>
              <a:cxnLst/>
              <a:rect l="l" t="t" r="r" b="b"/>
              <a:pathLst>
                <a:path w="1422400" h="1363980">
                  <a:moveTo>
                    <a:pt x="1422161" y="1363570"/>
                  </a:moveTo>
                  <a:lnTo>
                    <a:pt x="0" y="1363570"/>
                  </a:lnTo>
                  <a:lnTo>
                    <a:pt x="0" y="0"/>
                  </a:lnTo>
                  <a:lnTo>
                    <a:pt x="1422161" y="0"/>
                  </a:lnTo>
                  <a:lnTo>
                    <a:pt x="1422161" y="13635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94150" y="185737"/>
              <a:ext cx="647699" cy="6572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56906" y="111337"/>
              <a:ext cx="857249" cy="82867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7330" y="150123"/>
            <a:ext cx="809624" cy="6191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7765" y="153114"/>
            <a:ext cx="523874" cy="5238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57200" y="1566878"/>
            <a:ext cx="8255634" cy="35035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0000"/>
                </a:solidFill>
                <a:latin typeface="Arial"/>
                <a:cs typeface="Arial"/>
              </a:rPr>
              <a:t>Project</a:t>
            </a:r>
            <a:r>
              <a:rPr sz="17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/>
                <a:cs typeface="Arial"/>
              </a:rPr>
              <a:t>Title</a:t>
            </a:r>
            <a:r>
              <a:rPr sz="17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:</a:t>
            </a:r>
            <a:r>
              <a:rPr sz="1700" b="1" spc="-10" dirty="0">
                <a:latin typeface="Arial"/>
                <a:cs typeface="Arial"/>
              </a:rPr>
              <a:t> </a:t>
            </a:r>
            <a:r>
              <a:rPr lang="en-US" sz="1700" b="1" spc="-10" dirty="0" err="1" smtClean="0">
                <a:solidFill>
                  <a:srgbClr val="00B050"/>
                </a:solidFill>
                <a:latin typeface="Arial"/>
                <a:cs typeface="Arial"/>
              </a:rPr>
              <a:t>Networq</a:t>
            </a:r>
            <a:endParaRPr lang="en-US" sz="1700" dirty="0">
              <a:solidFill>
                <a:srgbClr val="00B050"/>
              </a:solidFill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100"/>
              </a:spcBef>
            </a:pP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</a:pPr>
            <a:r>
              <a:rPr sz="1700" b="1" dirty="0">
                <a:solidFill>
                  <a:srgbClr val="FF0000"/>
                </a:solidFill>
                <a:latin typeface="Arial"/>
                <a:cs typeface="Arial"/>
              </a:rPr>
              <a:t>Team</a:t>
            </a:r>
            <a:r>
              <a:rPr sz="17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sz="17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:</a:t>
            </a:r>
            <a:r>
              <a:rPr sz="1700" b="1" spc="170" dirty="0"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B050"/>
                </a:solidFill>
                <a:latin typeface="Arial"/>
                <a:cs typeface="Arial"/>
              </a:rPr>
              <a:t>Chronic</a:t>
            </a:r>
            <a:r>
              <a:rPr sz="1700" b="1" spc="-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700" b="1" spc="-10" dirty="0" smtClean="0">
                <a:solidFill>
                  <a:srgbClr val="00B050"/>
                </a:solidFill>
                <a:latin typeface="Arial"/>
                <a:cs typeface="Arial"/>
              </a:rPr>
              <a:t>Coders</a:t>
            </a:r>
            <a:endParaRPr lang="en-US" sz="1700" dirty="0">
              <a:solidFill>
                <a:srgbClr val="00B050"/>
              </a:solidFill>
              <a:latin typeface="Arial"/>
              <a:cs typeface="Arial"/>
            </a:endParaRPr>
          </a:p>
          <a:p>
            <a:pPr marL="46355">
              <a:lnSpc>
                <a:spcPct val="100000"/>
              </a:lnSpc>
            </a:pPr>
            <a:endParaRPr sz="17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solidFill>
                  <a:srgbClr val="FF0000"/>
                </a:solidFill>
                <a:latin typeface="Arial"/>
                <a:cs typeface="Arial"/>
              </a:rPr>
              <a:t>Team</a:t>
            </a:r>
            <a:r>
              <a:rPr sz="17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/>
                <a:cs typeface="Arial"/>
              </a:rPr>
              <a:t>Members</a:t>
            </a:r>
            <a:r>
              <a:rPr sz="1700" b="1" spc="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:</a:t>
            </a:r>
            <a:r>
              <a:rPr sz="1700" b="1" spc="105" dirty="0">
                <a:latin typeface="Arial"/>
                <a:cs typeface="Arial"/>
              </a:rPr>
              <a:t> </a:t>
            </a:r>
            <a:r>
              <a:rPr sz="1700" b="1" dirty="0">
                <a:solidFill>
                  <a:schemeClr val="tx2"/>
                </a:solidFill>
                <a:latin typeface="Arial"/>
                <a:cs typeface="Arial"/>
              </a:rPr>
              <a:t>Ritvik</a:t>
            </a:r>
            <a:r>
              <a:rPr sz="1700" b="1" spc="-9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chemeClr val="tx2"/>
                </a:solidFill>
                <a:latin typeface="Arial"/>
                <a:cs typeface="Arial"/>
              </a:rPr>
              <a:t>Arora</a:t>
            </a:r>
            <a:r>
              <a:rPr sz="1700" spc="-25" dirty="0">
                <a:solidFill>
                  <a:srgbClr val="00B050"/>
                </a:solidFill>
                <a:latin typeface="Arial MT"/>
                <a:cs typeface="Arial MT"/>
              </a:rPr>
              <a:t>(Team</a:t>
            </a:r>
            <a:r>
              <a:rPr sz="1700" spc="-4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IN" sz="1700" dirty="0">
                <a:solidFill>
                  <a:srgbClr val="00B050"/>
                </a:solidFill>
                <a:latin typeface="Arial MT"/>
                <a:cs typeface="Arial MT"/>
              </a:rPr>
              <a:t>L</a:t>
            </a:r>
            <a:r>
              <a:rPr sz="1700" dirty="0" err="1" smtClean="0">
                <a:solidFill>
                  <a:srgbClr val="00B050"/>
                </a:solidFill>
                <a:latin typeface="Arial MT"/>
                <a:cs typeface="Arial MT"/>
              </a:rPr>
              <a:t>ead</a:t>
            </a:r>
            <a:r>
              <a:rPr lang="en-IN" sz="1700" dirty="0" err="1" smtClean="0">
                <a:solidFill>
                  <a:srgbClr val="00B050"/>
                </a:solidFill>
                <a:latin typeface="Arial MT"/>
                <a:cs typeface="Arial MT"/>
              </a:rPr>
              <a:t>er</a:t>
            </a:r>
            <a:r>
              <a:rPr sz="1700" dirty="0" smtClean="0">
                <a:solidFill>
                  <a:srgbClr val="00B050"/>
                </a:solidFill>
                <a:latin typeface="Arial MT"/>
                <a:cs typeface="Arial MT"/>
              </a:rPr>
              <a:t>)[</a:t>
            </a:r>
            <a:r>
              <a:rPr sz="1700" dirty="0">
                <a:solidFill>
                  <a:srgbClr val="00B050"/>
                </a:solidFill>
                <a:latin typeface="Arial MT"/>
                <a:cs typeface="Arial MT"/>
              </a:rPr>
              <a:t>Full</a:t>
            </a:r>
            <a:r>
              <a:rPr sz="1700" spc="-4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0B050"/>
                </a:solidFill>
                <a:latin typeface="Arial MT"/>
                <a:cs typeface="Arial MT"/>
              </a:rPr>
              <a:t>stack</a:t>
            </a:r>
            <a:r>
              <a:rPr sz="1700" spc="-4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0B050"/>
                </a:solidFill>
                <a:latin typeface="Arial MT"/>
                <a:cs typeface="Arial MT"/>
              </a:rPr>
              <a:t>development]</a:t>
            </a:r>
            <a:r>
              <a:rPr sz="1700" b="1" spc="-10" dirty="0">
                <a:solidFill>
                  <a:srgbClr val="00B050"/>
                </a:solidFill>
                <a:latin typeface="Arial"/>
                <a:cs typeface="Arial"/>
              </a:rPr>
              <a:t>,</a:t>
            </a:r>
            <a:r>
              <a:rPr sz="1700" b="1" spc="-9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chemeClr val="tx2"/>
                </a:solidFill>
                <a:latin typeface="Arial"/>
                <a:cs typeface="Arial"/>
              </a:rPr>
              <a:t>Ansh</a:t>
            </a:r>
            <a:r>
              <a:rPr sz="1700" b="1" spc="-4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chemeClr val="tx2"/>
                </a:solidFill>
                <a:latin typeface="Arial"/>
                <a:cs typeface="Arial"/>
              </a:rPr>
              <a:t>Pal</a:t>
            </a:r>
            <a:endParaRPr sz="17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1816735">
              <a:lnSpc>
                <a:spcPct val="100000"/>
              </a:lnSpc>
              <a:spcBef>
                <a:spcPts val="265"/>
              </a:spcBef>
            </a:pPr>
            <a:r>
              <a:rPr sz="1700" dirty="0">
                <a:solidFill>
                  <a:srgbClr val="00B050"/>
                </a:solidFill>
                <a:latin typeface="Arial MT"/>
                <a:cs typeface="Arial MT"/>
              </a:rPr>
              <a:t>[Frontend</a:t>
            </a:r>
            <a:r>
              <a:rPr sz="1700" spc="-5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IN" sz="1700" spc="-10" dirty="0" smtClean="0">
                <a:solidFill>
                  <a:srgbClr val="00B050"/>
                </a:solidFill>
                <a:latin typeface="Arial MT"/>
                <a:cs typeface="Arial MT"/>
              </a:rPr>
              <a:t>Tools and D</a:t>
            </a:r>
            <a:r>
              <a:rPr sz="1700" spc="-10" dirty="0" err="1" smtClean="0">
                <a:solidFill>
                  <a:srgbClr val="00B050"/>
                </a:solidFill>
                <a:latin typeface="Arial MT"/>
                <a:cs typeface="Arial MT"/>
              </a:rPr>
              <a:t>evelopment</a:t>
            </a:r>
            <a:r>
              <a:rPr lang="en-IN" sz="1700" spc="-1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IN" sz="1700" spc="-10" dirty="0" smtClean="0">
                <a:solidFill>
                  <a:srgbClr val="00B050"/>
                </a:solidFill>
                <a:latin typeface="Arial MT"/>
                <a:cs typeface="Arial MT"/>
              </a:rPr>
              <a:t>expert</a:t>
            </a:r>
            <a:r>
              <a:rPr sz="1700" spc="-10" dirty="0" smtClean="0">
                <a:solidFill>
                  <a:srgbClr val="00B050"/>
                </a:solidFill>
                <a:latin typeface="Arial MT"/>
                <a:cs typeface="Arial MT"/>
              </a:rPr>
              <a:t>]</a:t>
            </a:r>
            <a:r>
              <a:rPr sz="1700" b="1" spc="-10" dirty="0" smtClean="0">
                <a:solidFill>
                  <a:srgbClr val="00B050"/>
                </a:solidFill>
                <a:latin typeface="Arial"/>
                <a:cs typeface="Arial"/>
              </a:rPr>
              <a:t>,</a:t>
            </a:r>
            <a:r>
              <a:rPr sz="1700" b="1" spc="-105" dirty="0" smtClean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chemeClr val="tx2"/>
                </a:solidFill>
                <a:latin typeface="Arial"/>
                <a:cs typeface="Arial"/>
              </a:rPr>
              <a:t>Arham</a:t>
            </a:r>
            <a:r>
              <a:rPr sz="1700" b="1" spc="-10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chemeClr val="tx2"/>
                </a:solidFill>
                <a:latin typeface="Arial"/>
                <a:cs typeface="Arial"/>
              </a:rPr>
              <a:t>Ahmad</a:t>
            </a:r>
            <a:r>
              <a:rPr sz="1700" spc="-10" dirty="0">
                <a:solidFill>
                  <a:srgbClr val="00B050"/>
                </a:solidFill>
                <a:latin typeface="Arial MT"/>
                <a:cs typeface="Arial MT"/>
              </a:rPr>
              <a:t>[Database</a:t>
            </a:r>
            <a:r>
              <a:rPr sz="1700" spc="-5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1700" dirty="0" smtClean="0">
                <a:solidFill>
                  <a:srgbClr val="00B050"/>
                </a:solidFill>
                <a:latin typeface="Arial MT"/>
                <a:cs typeface="Arial MT"/>
              </a:rPr>
              <a:t>analyst</a:t>
            </a:r>
            <a:r>
              <a:rPr sz="1700" spc="-20" dirty="0" smtClean="0">
                <a:solidFill>
                  <a:srgbClr val="00B050"/>
                </a:solidFill>
                <a:latin typeface="Arial MT"/>
                <a:cs typeface="Arial MT"/>
              </a:rPr>
              <a:t>]</a:t>
            </a:r>
            <a:r>
              <a:rPr lang="en-IN" sz="1700" spc="-20" dirty="0" smtClean="0">
                <a:solidFill>
                  <a:srgbClr val="00B050"/>
                </a:solidFill>
                <a:latin typeface="Arial MT"/>
                <a:cs typeface="Arial MT"/>
              </a:rPr>
              <a:t>, </a:t>
            </a:r>
            <a:r>
              <a:rPr lang="en-IN" sz="1700" b="1" spc="-20" dirty="0" smtClean="0">
                <a:solidFill>
                  <a:srgbClr val="002060"/>
                </a:solidFill>
                <a:latin typeface="Arial MT"/>
                <a:cs typeface="Arial MT"/>
              </a:rPr>
              <a:t>Kartik Singh</a:t>
            </a:r>
            <a:r>
              <a:rPr lang="en-IN" sz="1700" spc="-20" dirty="0" smtClean="0">
                <a:solidFill>
                  <a:srgbClr val="00B050"/>
                </a:solidFill>
                <a:latin typeface="Arial MT"/>
                <a:cs typeface="Arial MT"/>
              </a:rPr>
              <a:t>[PPT designer]</a:t>
            </a:r>
          </a:p>
          <a:p>
            <a:pPr marL="1816735">
              <a:lnSpc>
                <a:spcPct val="100000"/>
              </a:lnSpc>
              <a:spcBef>
                <a:spcPts val="265"/>
              </a:spcBef>
            </a:pPr>
            <a:endParaRPr sz="1700" dirty="0">
              <a:solidFill>
                <a:srgbClr val="00B05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550" b="1" baseline="1633" dirty="0" smtClean="0">
                <a:solidFill>
                  <a:srgbClr val="FF0000"/>
                </a:solidFill>
                <a:latin typeface="Arial"/>
                <a:cs typeface="Arial"/>
              </a:rPr>
              <a:t>Tracks</a:t>
            </a:r>
            <a:r>
              <a:rPr sz="2550" b="1" spc="-67" baseline="1633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50" b="1" spc="-15" baseline="1633" dirty="0">
                <a:solidFill>
                  <a:srgbClr val="FF0000"/>
                </a:solidFill>
                <a:latin typeface="Arial"/>
                <a:cs typeface="Arial"/>
              </a:rPr>
              <a:t>Chosen</a:t>
            </a:r>
            <a:r>
              <a:rPr sz="2550" b="1" spc="-345" baseline="163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: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dirty="0" smtClean="0">
                <a:solidFill>
                  <a:srgbClr val="00B050"/>
                </a:solidFill>
                <a:latin typeface="Arial"/>
                <a:cs typeface="Arial"/>
              </a:rPr>
              <a:t>Web</a:t>
            </a:r>
            <a:r>
              <a:rPr lang="en-US" sz="1700" b="1" dirty="0" smtClean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r>
              <a:rPr sz="1700" b="1" spc="-30" dirty="0" smtClean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700" b="1" spc="-10" dirty="0" smtClean="0">
                <a:solidFill>
                  <a:srgbClr val="00B050"/>
                </a:solidFill>
                <a:latin typeface="Arial"/>
                <a:cs typeface="Arial"/>
              </a:rPr>
              <a:t>Development</a:t>
            </a:r>
            <a:endParaRPr lang="en-US" sz="1700" b="1" spc="-10" dirty="0" smtClean="0">
              <a:solidFill>
                <a:srgbClr val="00B05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lang="en-US" sz="1700" b="1" spc="-10" dirty="0" smtClean="0">
              <a:solidFill>
                <a:srgbClr val="00B05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1700" b="1" spc="-1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00" b="1" spc="-10" dirty="0" smtClean="0">
                <a:solidFill>
                  <a:srgbClr val="FF0000"/>
                </a:solidFill>
                <a:latin typeface="Arial"/>
                <a:cs typeface="Arial"/>
              </a:rPr>
              <a:t>Video Link </a:t>
            </a:r>
            <a:r>
              <a:rPr lang="en-US" sz="1700" b="1" spc="-10" dirty="0" smtClean="0">
                <a:solidFill>
                  <a:schemeClr val="tx1"/>
                </a:solidFill>
                <a:latin typeface="Arial"/>
                <a:cs typeface="Arial"/>
              </a:rPr>
              <a:t>: </a:t>
            </a:r>
            <a:r>
              <a:rPr lang="en-US" sz="1700" b="1" spc="-10" dirty="0" smtClean="0">
                <a:solidFill>
                  <a:srgbClr val="00B050"/>
                </a:solidFill>
                <a:latin typeface="Arial"/>
                <a:cs typeface="Arial"/>
              </a:rPr>
              <a:t>https://drive.google.com/file/d/1lVwhq03pkG1awwdBt-gQPFyTYOCZhHil/view?usp=sharing</a:t>
            </a:r>
            <a:endParaRPr lang="en-US" sz="1700" b="1" spc="-10" dirty="0">
              <a:solidFill>
                <a:srgbClr val="00B05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sz="170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7330" y="824517"/>
            <a:ext cx="1685924" cy="7048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11430" y="974863"/>
            <a:ext cx="612775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10" dirty="0">
                <a:latin typeface="Arial MT"/>
                <a:cs typeface="Arial MT"/>
              </a:rPr>
              <a:t>Chronic</a:t>
            </a:r>
            <a:endParaRPr sz="1400">
              <a:latin typeface="Arial MT"/>
              <a:cs typeface="Arial MT"/>
            </a:endParaRPr>
          </a:p>
          <a:p>
            <a:pPr marL="9525">
              <a:lnSpc>
                <a:spcPct val="100000"/>
              </a:lnSpc>
              <a:spcBef>
                <a:spcPts val="150"/>
              </a:spcBef>
            </a:pPr>
            <a:r>
              <a:rPr sz="1400" spc="-10" dirty="0">
                <a:latin typeface="Arial MT"/>
                <a:cs typeface="Arial MT"/>
              </a:rPr>
              <a:t>Coders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44500">
              <a:lnSpc>
                <a:spcPct val="100000"/>
              </a:lnSpc>
              <a:spcBef>
                <a:spcPts val="125"/>
              </a:spcBef>
            </a:pPr>
            <a:r>
              <a:rPr sz="2150" spc="-10" dirty="0">
                <a:latin typeface="Arial"/>
                <a:cs typeface="Arial"/>
              </a:rPr>
              <a:t>CODESLAYER2k25</a:t>
            </a:r>
            <a:endParaRPr sz="2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03408" y="828406"/>
            <a:ext cx="5861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-10" dirty="0">
                <a:latin typeface="Arial"/>
                <a:cs typeface="Arial"/>
              </a:rPr>
              <a:t>DevSphere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58487" y="952231"/>
            <a:ext cx="27622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-10" dirty="0">
                <a:latin typeface="Arial"/>
                <a:cs typeface="Arial"/>
              </a:rPr>
              <a:t>India</a:t>
            </a:r>
            <a:endParaRPr sz="85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7173" y="804879"/>
            <a:ext cx="1781174" cy="74294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98730" y="923669"/>
            <a:ext cx="638175" cy="4616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1115" marR="5080" indent="-19050">
              <a:lnSpc>
                <a:spcPct val="104299"/>
              </a:lnSpc>
              <a:spcBef>
                <a:spcPts val="25"/>
              </a:spcBef>
            </a:pPr>
            <a:r>
              <a:rPr sz="1400" spc="-10" dirty="0">
                <a:latin typeface="Arial MT"/>
                <a:cs typeface="Arial MT"/>
              </a:rPr>
              <a:t>Chronic Coders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 advTm="21662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272801" y="1629622"/>
            <a:ext cx="5715000" cy="32168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object 2"/>
          <p:cNvGrpSpPr/>
          <p:nvPr/>
        </p:nvGrpSpPr>
        <p:grpSpPr>
          <a:xfrm>
            <a:off x="7461666" y="185737"/>
            <a:ext cx="1492250" cy="1378585"/>
            <a:chOff x="7461666" y="185737"/>
            <a:chExt cx="1492250" cy="13785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3025" y="829522"/>
              <a:ext cx="781049" cy="3238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461666" y="200672"/>
              <a:ext cx="1422400" cy="1363980"/>
            </a:xfrm>
            <a:custGeom>
              <a:avLst/>
              <a:gdLst/>
              <a:ahLst/>
              <a:cxnLst/>
              <a:rect l="l" t="t" r="r" b="b"/>
              <a:pathLst>
                <a:path w="1422400" h="1363980">
                  <a:moveTo>
                    <a:pt x="1422161" y="1363570"/>
                  </a:moveTo>
                  <a:lnTo>
                    <a:pt x="0" y="1363570"/>
                  </a:lnTo>
                  <a:lnTo>
                    <a:pt x="0" y="0"/>
                  </a:lnTo>
                  <a:lnTo>
                    <a:pt x="1422161" y="0"/>
                  </a:lnTo>
                  <a:lnTo>
                    <a:pt x="1422161" y="13635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05800" y="185737"/>
              <a:ext cx="647699" cy="65722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330" y="150123"/>
            <a:ext cx="809624" cy="6191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7765" y="153114"/>
            <a:ext cx="523874" cy="523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56906" y="111337"/>
            <a:ext cx="857249" cy="82867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136749" y="1629622"/>
            <a:ext cx="2617470" cy="3216898"/>
          </a:xfrm>
          <a:custGeom>
            <a:avLst/>
            <a:gdLst/>
            <a:ahLst/>
            <a:cxnLst/>
            <a:rect l="l" t="t" r="r" b="b"/>
            <a:pathLst>
              <a:path w="2617470" h="2999740">
                <a:moveTo>
                  <a:pt x="2617325" y="50242"/>
                </a:moveTo>
                <a:lnTo>
                  <a:pt x="2617333" y="2949250"/>
                </a:lnTo>
                <a:lnTo>
                  <a:pt x="2598937" y="2984820"/>
                </a:lnTo>
                <a:lnTo>
                  <a:pt x="2554523" y="2999527"/>
                </a:lnTo>
                <a:lnTo>
                  <a:pt x="62760" y="2999526"/>
                </a:lnTo>
                <a:lnTo>
                  <a:pt x="38311" y="2995570"/>
                </a:lnTo>
                <a:lnTo>
                  <a:pt x="18357" y="2984789"/>
                </a:lnTo>
                <a:lnTo>
                  <a:pt x="4909" y="2968820"/>
                </a:lnTo>
                <a:lnTo>
                  <a:pt x="0" y="2949239"/>
                </a:lnTo>
                <a:lnTo>
                  <a:pt x="0" y="50241"/>
                </a:lnTo>
                <a:lnTo>
                  <a:pt x="18380" y="14710"/>
                </a:lnTo>
                <a:lnTo>
                  <a:pt x="62767" y="0"/>
                </a:lnTo>
                <a:lnTo>
                  <a:pt x="2554523" y="0"/>
                </a:lnTo>
                <a:lnTo>
                  <a:pt x="2578968" y="3931"/>
                </a:lnTo>
                <a:lnTo>
                  <a:pt x="2598931" y="14693"/>
                </a:lnTo>
                <a:lnTo>
                  <a:pt x="2612392" y="30672"/>
                </a:lnTo>
                <a:lnTo>
                  <a:pt x="2617325" y="50242"/>
                </a:lnTo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984473" y="409457"/>
            <a:ext cx="364617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0" marR="5080" indent="-400685">
              <a:lnSpc>
                <a:spcPct val="1488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60" dirty="0"/>
              <a:t> </a:t>
            </a:r>
            <a:r>
              <a:rPr dirty="0"/>
              <a:t>STATEMENT</a:t>
            </a:r>
            <a:r>
              <a:rPr spc="-60" dirty="0"/>
              <a:t> </a:t>
            </a:r>
            <a:r>
              <a:rPr spc="-50" dirty="0"/>
              <a:t>&amp; </a:t>
            </a:r>
            <a:r>
              <a:rPr dirty="0"/>
              <a:t>TARGET</a:t>
            </a:r>
            <a:r>
              <a:rPr spc="-95" dirty="0"/>
              <a:t> </a:t>
            </a:r>
            <a:r>
              <a:rPr spc="-10" dirty="0"/>
              <a:t>AUDIENCE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9192" y="1849966"/>
            <a:ext cx="530272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solidFill>
                  <a:srgbClr val="1157CC"/>
                </a:solidFill>
              </a:rPr>
              <a:t>Skill-to-Job Recommendation Engine for Rural Youth </a:t>
            </a:r>
            <a:endParaRPr sz="1700" b="1" dirty="0">
              <a:solidFill>
                <a:srgbClr val="1157CC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76080" y="1849966"/>
            <a:ext cx="13449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154CC"/>
                </a:solidFill>
                <a:latin typeface="Arial"/>
                <a:cs typeface="Arial"/>
              </a:rPr>
              <a:t>Target</a:t>
            </a:r>
            <a:r>
              <a:rPr sz="1700" b="1" spc="-60" dirty="0">
                <a:solidFill>
                  <a:srgbClr val="1154CC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1154CC"/>
                </a:solidFill>
                <a:latin typeface="Arial"/>
                <a:cs typeface="Arial"/>
              </a:rPr>
              <a:t>Users</a:t>
            </a:r>
            <a:endParaRPr sz="1700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177" y="781897"/>
            <a:ext cx="1781174" cy="7429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98735" y="900687"/>
            <a:ext cx="638175" cy="4616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1115" marR="5080" indent="-19050">
              <a:lnSpc>
                <a:spcPct val="104299"/>
              </a:lnSpc>
              <a:spcBef>
                <a:spcPts val="25"/>
              </a:spcBef>
            </a:pPr>
            <a:r>
              <a:rPr sz="1400" spc="-10" dirty="0">
                <a:latin typeface="Arial MT"/>
                <a:cs typeface="Arial MT"/>
              </a:rPr>
              <a:t>Chronic Coders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03408" y="828406"/>
            <a:ext cx="58610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-10" dirty="0">
                <a:latin typeface="Arial"/>
                <a:cs typeface="Arial"/>
              </a:rPr>
              <a:t>DevSphere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58487" y="952231"/>
            <a:ext cx="27622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-10" dirty="0">
                <a:latin typeface="Arial"/>
                <a:cs typeface="Arial"/>
              </a:rPr>
              <a:t>India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xfrm>
            <a:off x="782401" y="2522901"/>
            <a:ext cx="4936302" cy="175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10300"/>
              </a:lnSpc>
              <a:spcBef>
                <a:spcPts val="100"/>
              </a:spcBef>
              <a:buFont typeface="Wingdings" panose="05000000000000000000" pitchFamily="2" charset="2"/>
              <a:buChar char="v"/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rural</a:t>
            </a:r>
            <a:r>
              <a:rPr spc="-45" dirty="0"/>
              <a:t> </a:t>
            </a:r>
            <a:r>
              <a:rPr dirty="0"/>
              <a:t>youth</a:t>
            </a:r>
            <a:r>
              <a:rPr spc="-5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India</a:t>
            </a:r>
            <a:r>
              <a:rPr spc="-50" dirty="0"/>
              <a:t> </a:t>
            </a:r>
            <a:r>
              <a:rPr dirty="0"/>
              <a:t>face</a:t>
            </a:r>
            <a:r>
              <a:rPr spc="-45" dirty="0"/>
              <a:t> </a:t>
            </a:r>
            <a:r>
              <a:rPr dirty="0"/>
              <a:t>immense</a:t>
            </a:r>
            <a:r>
              <a:rPr spc="-45" dirty="0"/>
              <a:t> </a:t>
            </a:r>
            <a:r>
              <a:rPr b="1" spc="-10" dirty="0">
                <a:solidFill>
                  <a:schemeClr val="accent6">
                    <a:lumMod val="50000"/>
                  </a:schemeClr>
                </a:solidFill>
              </a:rPr>
              <a:t>difficulties</a:t>
            </a:r>
            <a:r>
              <a:rPr b="1" spc="-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pc="-25" dirty="0"/>
              <a:t>in </a:t>
            </a:r>
            <a:r>
              <a:rPr dirty="0"/>
              <a:t>acquiring</a:t>
            </a:r>
            <a:r>
              <a:rPr spc="-60" dirty="0"/>
              <a:t> </a:t>
            </a:r>
            <a:r>
              <a:rPr dirty="0"/>
              <a:t>jobs</a:t>
            </a:r>
            <a:r>
              <a:rPr spc="-55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suit</a:t>
            </a:r>
            <a:r>
              <a:rPr b="1" spc="-5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their</a:t>
            </a:r>
            <a:r>
              <a:rPr b="1" spc="-5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skills</a:t>
            </a:r>
            <a:r>
              <a:rPr b="1" spc="-5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aspirations. </a:t>
            </a:r>
            <a:endParaRPr lang="en-US" spc="-10" dirty="0" smtClean="0"/>
          </a:p>
          <a:p>
            <a:pPr marL="298450" marR="5080" indent="-285750">
              <a:lnSpc>
                <a:spcPct val="110300"/>
              </a:lnSpc>
              <a:spcBef>
                <a:spcPts val="100"/>
              </a:spcBef>
              <a:buFont typeface="Wingdings" panose="05000000000000000000" pitchFamily="2" charset="2"/>
              <a:buChar char="v"/>
            </a:pPr>
            <a:r>
              <a:rPr dirty="0" smtClean="0"/>
              <a:t>Most</a:t>
            </a:r>
            <a:r>
              <a:rPr spc="-35" dirty="0" smtClean="0"/>
              <a:t> 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lack</a:t>
            </a:r>
            <a:r>
              <a:rPr b="1" spc="-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b="1" spc="-20" dirty="0">
                <a:solidFill>
                  <a:schemeClr val="accent6">
                    <a:lumMod val="50000"/>
                  </a:schemeClr>
                </a:solidFill>
              </a:rPr>
              <a:t>industry-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level</a:t>
            </a:r>
            <a:r>
              <a:rPr b="1" spc="-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skills</a:t>
            </a:r>
            <a:r>
              <a:rPr dirty="0"/>
              <a:t>,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even</a:t>
            </a:r>
            <a:r>
              <a:rPr spc="-35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spc="-10" dirty="0"/>
              <a:t>trained, </a:t>
            </a:r>
            <a:r>
              <a:rPr dirty="0"/>
              <a:t>they</a:t>
            </a:r>
            <a:r>
              <a:rPr spc="-65" dirty="0"/>
              <a:t> 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struggle</a:t>
            </a:r>
            <a:r>
              <a:rPr b="1" spc="-6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with</a:t>
            </a:r>
            <a:r>
              <a:rPr b="1" spc="-6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job</a:t>
            </a:r>
            <a:r>
              <a:rPr b="1" spc="-6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b="1" dirty="0">
                <a:solidFill>
                  <a:schemeClr val="accent6">
                    <a:lumMod val="50000"/>
                  </a:schemeClr>
                </a:solidFill>
              </a:rPr>
              <a:t>awareness</a:t>
            </a:r>
            <a:r>
              <a:rPr b="1" spc="-6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pc="-25" dirty="0"/>
              <a:t>and</a:t>
            </a:r>
            <a:r>
              <a:rPr spc="500" dirty="0"/>
              <a:t> </a:t>
            </a:r>
            <a:r>
              <a:rPr spc="-10" dirty="0"/>
              <a:t>opportunities.</a:t>
            </a:r>
          </a:p>
        </p:txBody>
      </p:sp>
      <p:sp>
        <p:nvSpPr>
          <p:cNvPr id="22" name="object 22"/>
          <p:cNvSpPr/>
          <p:nvPr/>
        </p:nvSpPr>
        <p:spPr>
          <a:xfrm>
            <a:off x="6298673" y="246575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98673" y="326585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69329" y="2312691"/>
            <a:ext cx="2068195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Rural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job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seekers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(15– </a:t>
            </a:r>
            <a:r>
              <a:rPr sz="1600" dirty="0">
                <a:latin typeface="Arial MT"/>
                <a:cs typeface="Arial MT"/>
              </a:rPr>
              <a:t>35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years),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lang="en-IN" sz="1600" spc="-10" dirty="0" smtClean="0">
                <a:latin typeface="Arial MT"/>
                <a:cs typeface="Arial MT"/>
              </a:rPr>
              <a:t>trainers</a:t>
            </a:r>
            <a:r>
              <a:rPr sz="1600" spc="-10" dirty="0" smtClean="0">
                <a:latin typeface="Arial MT"/>
                <a:cs typeface="Arial MT"/>
              </a:rPr>
              <a:t>, </a:t>
            </a:r>
            <a:r>
              <a:rPr sz="1600" spc="-10" dirty="0">
                <a:latin typeface="Arial MT"/>
                <a:cs typeface="Arial MT"/>
              </a:rPr>
              <a:t>recruiters.</a:t>
            </a:r>
            <a:endParaRPr sz="1600" dirty="0">
              <a:latin typeface="Arial MT"/>
              <a:cs typeface="Arial MT"/>
            </a:endParaRPr>
          </a:p>
          <a:p>
            <a:pPr marL="12700" marR="162560">
              <a:lnSpc>
                <a:spcPct val="109400"/>
              </a:lnSpc>
            </a:pPr>
            <a:r>
              <a:rPr sz="1600" dirty="0">
                <a:latin typeface="Arial MT"/>
                <a:cs typeface="Arial MT"/>
              </a:rPr>
              <a:t>Primarily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B2C,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but </a:t>
            </a:r>
            <a:r>
              <a:rPr sz="1600" dirty="0">
                <a:latin typeface="Arial MT"/>
                <a:cs typeface="Arial MT"/>
              </a:rPr>
              <a:t>benefits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B2B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well.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 advTm="1120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272801" y="1526206"/>
            <a:ext cx="4603999" cy="33203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object 2"/>
          <p:cNvGrpSpPr/>
          <p:nvPr/>
        </p:nvGrpSpPr>
        <p:grpSpPr>
          <a:xfrm>
            <a:off x="127177" y="150123"/>
            <a:ext cx="1781175" cy="1362075"/>
            <a:chOff x="127177" y="150123"/>
            <a:chExt cx="1781175" cy="1362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177" y="769248"/>
              <a:ext cx="1781174" cy="7429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30" y="150123"/>
              <a:ext cx="809624" cy="6191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7765" y="153114"/>
              <a:ext cx="523874" cy="52387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56906" y="111337"/>
            <a:ext cx="857249" cy="82867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028610" y="1512197"/>
            <a:ext cx="3808729" cy="3334323"/>
          </a:xfrm>
          <a:custGeom>
            <a:avLst/>
            <a:gdLst/>
            <a:ahLst/>
            <a:cxnLst/>
            <a:rect l="l" t="t" r="r" b="b"/>
            <a:pathLst>
              <a:path w="3808729" h="3315335">
                <a:moveTo>
                  <a:pt x="3808541" y="79489"/>
                </a:moveTo>
                <a:lnTo>
                  <a:pt x="3808554" y="3235223"/>
                </a:lnTo>
                <a:lnTo>
                  <a:pt x="3789867" y="3291511"/>
                </a:lnTo>
                <a:lnTo>
                  <a:pt x="3744680" y="3314792"/>
                </a:lnTo>
                <a:lnTo>
                  <a:pt x="63806" y="3314795"/>
                </a:lnTo>
                <a:lnTo>
                  <a:pt x="38933" y="3308527"/>
                </a:lnTo>
                <a:lnTo>
                  <a:pt x="18649" y="3291460"/>
                </a:lnTo>
                <a:lnTo>
                  <a:pt x="4981" y="3266194"/>
                </a:lnTo>
                <a:lnTo>
                  <a:pt x="0" y="3235210"/>
                </a:lnTo>
                <a:lnTo>
                  <a:pt x="1" y="79483"/>
                </a:lnTo>
                <a:lnTo>
                  <a:pt x="18702" y="23257"/>
                </a:lnTo>
                <a:lnTo>
                  <a:pt x="63831" y="0"/>
                </a:lnTo>
                <a:lnTo>
                  <a:pt x="3744680" y="0"/>
                </a:lnTo>
                <a:lnTo>
                  <a:pt x="3769545" y="6210"/>
                </a:lnTo>
                <a:lnTo>
                  <a:pt x="3789846" y="23246"/>
                </a:lnTo>
                <a:lnTo>
                  <a:pt x="3803528" y="48530"/>
                </a:lnTo>
                <a:lnTo>
                  <a:pt x="3808541" y="79489"/>
                </a:ln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887100" y="544826"/>
            <a:ext cx="35528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spc="-75" dirty="0"/>
              <a:t> </a:t>
            </a:r>
            <a:r>
              <a:rPr dirty="0"/>
              <a:t>UNIQUE</a:t>
            </a:r>
            <a:r>
              <a:rPr spc="-7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282299" y="1577054"/>
            <a:ext cx="3408045" cy="318164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42620">
              <a:lnSpc>
                <a:spcPct val="100000"/>
              </a:lnSpc>
              <a:spcBef>
                <a:spcPts val="570"/>
              </a:spcBef>
            </a:pPr>
            <a:r>
              <a:rPr sz="1700" b="1" dirty="0">
                <a:solidFill>
                  <a:srgbClr val="1154CC"/>
                </a:solidFill>
                <a:latin typeface="Arial"/>
                <a:cs typeface="Arial"/>
              </a:rPr>
              <a:t>Why</a:t>
            </a:r>
            <a:r>
              <a:rPr sz="1700" b="1" spc="-30" dirty="0">
                <a:solidFill>
                  <a:srgbClr val="1154CC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154CC"/>
                </a:solidFill>
                <a:latin typeface="Arial"/>
                <a:cs typeface="Arial"/>
              </a:rPr>
              <a:t>It's</a:t>
            </a:r>
            <a:r>
              <a:rPr sz="1700" b="1" spc="-25" dirty="0">
                <a:solidFill>
                  <a:srgbClr val="1154CC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154CC"/>
                </a:solidFill>
                <a:latin typeface="Arial"/>
                <a:cs typeface="Arial"/>
              </a:rPr>
              <a:t>Different</a:t>
            </a:r>
            <a:endParaRPr sz="1700" dirty="0">
              <a:latin typeface="Arial"/>
              <a:cs typeface="Arial"/>
            </a:endParaRPr>
          </a:p>
          <a:p>
            <a:pPr marL="298450" marR="28575" indent="-285750">
              <a:lnSpc>
                <a:spcPts val="2030"/>
              </a:lnSpc>
              <a:spcBef>
                <a:spcPts val="550"/>
              </a:spcBef>
              <a:buFont typeface="Wingdings" panose="05000000000000000000" pitchFamily="2" charset="2"/>
              <a:buChar char="v"/>
            </a:pPr>
            <a:r>
              <a:rPr sz="1700" dirty="0">
                <a:latin typeface="Arial MT"/>
                <a:cs typeface="Arial MT"/>
              </a:rPr>
              <a:t>Unlike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most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job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boards,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candidates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only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matched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but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7030A0"/>
                </a:solidFill>
                <a:latin typeface="Arial MT"/>
                <a:cs typeface="Arial MT"/>
              </a:rPr>
              <a:t>actively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trained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upskilled</a:t>
            </a:r>
            <a:r>
              <a:rPr sz="1700" b="1" spc="-6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within</a:t>
            </a:r>
            <a:r>
              <a:rPr sz="1700" b="1" spc="-6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spc="-25" dirty="0">
                <a:solidFill>
                  <a:srgbClr val="7030A0"/>
                </a:solidFill>
                <a:latin typeface="Arial MT"/>
                <a:cs typeface="Arial MT"/>
              </a:rPr>
              <a:t>the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platform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before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connecting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with </a:t>
            </a:r>
            <a:r>
              <a:rPr sz="1700" spc="-10" dirty="0">
                <a:latin typeface="Arial MT"/>
                <a:cs typeface="Arial MT"/>
              </a:rPr>
              <a:t>recruiters.</a:t>
            </a:r>
            <a:endParaRPr sz="1700" dirty="0">
              <a:latin typeface="Arial MT"/>
              <a:cs typeface="Arial MT"/>
            </a:endParaRPr>
          </a:p>
          <a:p>
            <a:pPr marL="298450" indent="-285750">
              <a:lnSpc>
                <a:spcPts val="1930"/>
              </a:lnSpc>
              <a:buFont typeface="Wingdings" panose="05000000000000000000" pitchFamily="2" charset="2"/>
              <a:buChar char="v"/>
            </a:pPr>
            <a:r>
              <a:rPr sz="1700" dirty="0">
                <a:latin typeface="Arial MT"/>
                <a:cs typeface="Arial MT"/>
              </a:rPr>
              <a:t>Integrates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multiple</a:t>
            </a:r>
            <a:r>
              <a:rPr sz="1700" b="1" spc="-7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job</a:t>
            </a:r>
            <a:r>
              <a:rPr sz="1700" b="1" spc="-7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boards</a:t>
            </a:r>
            <a:r>
              <a:rPr sz="1700" b="1" spc="-7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spc="-25" dirty="0" smtClean="0">
                <a:latin typeface="Arial MT"/>
                <a:cs typeface="Arial MT"/>
              </a:rPr>
              <a:t>in</a:t>
            </a:r>
            <a:r>
              <a:rPr lang="en-US" sz="1700" dirty="0">
                <a:latin typeface="Arial MT"/>
                <a:cs typeface="Arial MT"/>
              </a:rPr>
              <a:t> </a:t>
            </a:r>
            <a:r>
              <a:rPr sz="1700" dirty="0" smtClean="0">
                <a:latin typeface="Arial MT"/>
                <a:cs typeface="Arial MT"/>
              </a:rPr>
              <a:t>one</a:t>
            </a:r>
            <a:r>
              <a:rPr sz="1700" spc="-45" dirty="0" smtClean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place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rural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sector. </a:t>
            </a:r>
            <a:endParaRPr sz="1700" dirty="0">
              <a:latin typeface="Arial MT"/>
              <a:cs typeface="Arial MT"/>
            </a:endParaRPr>
          </a:p>
          <a:p>
            <a:pPr marL="298450" indent="-285750">
              <a:lnSpc>
                <a:spcPts val="1939"/>
              </a:lnSpc>
              <a:buFont typeface="Wingdings" panose="05000000000000000000" pitchFamily="2" charset="2"/>
              <a:buChar char="v"/>
            </a:pPr>
            <a:r>
              <a:rPr sz="1700" spc="-10" dirty="0" smtClean="0">
                <a:latin typeface="Arial MT"/>
                <a:cs typeface="Arial MT"/>
              </a:rPr>
              <a:t>In</a:t>
            </a:r>
            <a:r>
              <a:rPr sz="1700" dirty="0" smtClean="0">
                <a:latin typeface="Arial MT"/>
                <a:cs typeface="Arial MT"/>
              </a:rPr>
              <a:t>built</a:t>
            </a:r>
            <a:r>
              <a:rPr sz="1700" spc="-60" dirty="0" smtClean="0"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7030A0"/>
                </a:solidFill>
                <a:latin typeface="Arial MT"/>
                <a:cs typeface="Arial MT"/>
              </a:rPr>
              <a:t>micro-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training</a:t>
            </a:r>
            <a:r>
              <a:rPr sz="1700" b="1" spc="-5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spc="-10" dirty="0" smtClean="0">
                <a:solidFill>
                  <a:srgbClr val="7030A0"/>
                </a:solidFill>
                <a:latin typeface="Arial MT"/>
                <a:cs typeface="Arial MT"/>
              </a:rPr>
              <a:t>marketplace</a:t>
            </a:r>
            <a:r>
              <a:rPr lang="en-US" sz="1700" b="1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dirty="0" smtClean="0">
                <a:latin typeface="Arial MT"/>
                <a:cs typeface="Arial MT"/>
              </a:rPr>
              <a:t>linking</a:t>
            </a:r>
            <a:r>
              <a:rPr sz="1700" spc="-65" dirty="0" smtClean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learning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earning.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6450" y="930557"/>
            <a:ext cx="87947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45"/>
              </a:lnSpc>
            </a:pPr>
            <a:r>
              <a:rPr sz="1400" dirty="0">
                <a:latin typeface="Arial MT"/>
                <a:cs typeface="Arial MT"/>
              </a:rPr>
              <a:t>Your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Team</a:t>
            </a:r>
            <a:endParaRPr sz="1400">
              <a:latin typeface="Arial MT"/>
              <a:cs typeface="Arial MT"/>
            </a:endParaRPr>
          </a:p>
          <a:p>
            <a:pPr marR="43180" algn="ctr">
              <a:lnSpc>
                <a:spcPct val="100000"/>
              </a:lnSpc>
              <a:spcBef>
                <a:spcPts val="175"/>
              </a:spcBef>
            </a:pPr>
            <a:r>
              <a:rPr sz="1400" spc="-20" dirty="0">
                <a:latin typeface="Arial MT"/>
                <a:cs typeface="Arial MT"/>
              </a:rPr>
              <a:t>Name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03408" y="828406"/>
            <a:ext cx="586105" cy="2781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7640" marR="5080" indent="-155575">
              <a:lnSpc>
                <a:spcPts val="980"/>
              </a:lnSpc>
              <a:spcBef>
                <a:spcPts val="160"/>
              </a:spcBef>
            </a:pPr>
            <a:r>
              <a:rPr sz="850" b="1" spc="-10" dirty="0">
                <a:latin typeface="Arial"/>
                <a:cs typeface="Arial"/>
              </a:rPr>
              <a:t>DevSphere India</a:t>
            </a:r>
            <a:endParaRPr sz="8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3592" y="2066570"/>
            <a:ext cx="66675" cy="6667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3592" y="3209569"/>
            <a:ext cx="66675" cy="666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3592" y="4066819"/>
            <a:ext cx="66675" cy="666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177" y="769248"/>
            <a:ext cx="1781174" cy="74294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98735" y="888038"/>
            <a:ext cx="4025265" cy="39109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1115" marR="3391535" indent="-19050">
              <a:lnSpc>
                <a:spcPct val="104299"/>
              </a:lnSpc>
              <a:spcBef>
                <a:spcPts val="25"/>
              </a:spcBef>
            </a:pPr>
            <a:r>
              <a:rPr sz="1400" spc="-10" dirty="0">
                <a:latin typeface="Arial MT"/>
                <a:cs typeface="Arial MT"/>
              </a:rPr>
              <a:t>Chronic Coders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400" dirty="0">
              <a:latin typeface="Arial MT"/>
              <a:cs typeface="Arial MT"/>
            </a:endParaRPr>
          </a:p>
          <a:p>
            <a:pPr marL="1265555">
              <a:lnSpc>
                <a:spcPct val="100000"/>
              </a:lnSpc>
            </a:pPr>
            <a:r>
              <a:rPr sz="1700" b="1" dirty="0">
                <a:solidFill>
                  <a:srgbClr val="1154CC"/>
                </a:solidFill>
                <a:latin typeface="Arial"/>
                <a:cs typeface="Arial"/>
              </a:rPr>
              <a:t>Key</a:t>
            </a:r>
            <a:r>
              <a:rPr sz="1700" b="1" spc="-35" dirty="0">
                <a:solidFill>
                  <a:srgbClr val="1154CC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154CC"/>
                </a:solidFill>
                <a:latin typeface="Arial"/>
                <a:cs typeface="Arial"/>
              </a:rPr>
              <a:t>Features</a:t>
            </a:r>
            <a:endParaRPr sz="1700" dirty="0">
              <a:latin typeface="Arial"/>
              <a:cs typeface="Arial"/>
            </a:endParaRPr>
          </a:p>
          <a:p>
            <a:pPr marL="200025" marR="16510">
              <a:lnSpc>
                <a:spcPct val="110300"/>
              </a:lnSpc>
              <a:spcBef>
                <a:spcPts val="309"/>
              </a:spcBef>
            </a:pPr>
            <a:r>
              <a:rPr sz="1700" dirty="0">
                <a:latin typeface="Arial MT"/>
                <a:cs typeface="Arial MT"/>
              </a:rPr>
              <a:t>An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integrated</a:t>
            </a:r>
            <a:r>
              <a:rPr sz="1700" b="1" spc="-8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platform</a:t>
            </a:r>
            <a:r>
              <a:rPr sz="1700" b="1" spc="-7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bringing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together </a:t>
            </a:r>
            <a:r>
              <a:rPr sz="1700" dirty="0">
                <a:latin typeface="Arial MT"/>
                <a:cs typeface="Arial MT"/>
              </a:rPr>
              <a:t>job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seekers,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 err="1" smtClean="0">
                <a:latin typeface="Arial MT"/>
                <a:cs typeface="Arial MT"/>
              </a:rPr>
              <a:t>traine</a:t>
            </a:r>
            <a:r>
              <a:rPr lang="en-IN" sz="1700" dirty="0" smtClean="0">
                <a:latin typeface="Arial MT"/>
                <a:cs typeface="Arial MT"/>
              </a:rPr>
              <a:t>r</a:t>
            </a:r>
            <a:r>
              <a:rPr sz="1700" dirty="0" smtClean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,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recruiters </a:t>
            </a:r>
            <a:r>
              <a:rPr sz="1700" dirty="0">
                <a:latin typeface="Arial MT"/>
                <a:cs typeface="Arial MT"/>
              </a:rPr>
              <a:t>(“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TRS</a:t>
            </a:r>
            <a:r>
              <a:rPr sz="1700" b="1" spc="-4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7030A0"/>
                </a:solidFill>
                <a:latin typeface="Arial MT"/>
                <a:cs typeface="Arial MT"/>
              </a:rPr>
              <a:t>ecosystem</a:t>
            </a:r>
            <a:r>
              <a:rPr sz="1700" spc="-10" dirty="0">
                <a:latin typeface="Arial MT"/>
                <a:cs typeface="Arial MT"/>
              </a:rPr>
              <a:t>”)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one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place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for </a:t>
            </a:r>
            <a:r>
              <a:rPr sz="1700" dirty="0">
                <a:latin typeface="Arial MT"/>
                <a:cs typeface="Arial MT"/>
              </a:rPr>
              <a:t>mutual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growth.</a:t>
            </a:r>
            <a:endParaRPr sz="1700" dirty="0">
              <a:latin typeface="Arial MT"/>
              <a:cs typeface="Arial MT"/>
            </a:endParaRPr>
          </a:p>
          <a:p>
            <a:pPr marL="200025" marR="5080">
              <a:lnSpc>
                <a:spcPct val="110300"/>
              </a:lnSpc>
            </a:pPr>
            <a:r>
              <a:rPr sz="1700" spc="-10" dirty="0">
                <a:latin typeface="Arial MT"/>
                <a:cs typeface="Arial MT"/>
              </a:rPr>
              <a:t>Aggregates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jobs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social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platforms </a:t>
            </a:r>
            <a:r>
              <a:rPr sz="1700" dirty="0">
                <a:latin typeface="Arial MT"/>
                <a:cs typeface="Arial MT"/>
              </a:rPr>
              <a:t>(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Google,</a:t>
            </a:r>
            <a:r>
              <a:rPr sz="1700" b="1" spc="-5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LinkedIn</a:t>
            </a:r>
            <a:r>
              <a:rPr sz="1700" dirty="0">
                <a:latin typeface="Arial MT"/>
                <a:cs typeface="Arial MT"/>
              </a:rPr>
              <a:t>)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location-</a:t>
            </a:r>
            <a:r>
              <a:rPr sz="1700" spc="-10" dirty="0">
                <a:latin typeface="Arial MT"/>
                <a:cs typeface="Arial MT"/>
              </a:rPr>
              <a:t>specific </a:t>
            </a:r>
            <a:r>
              <a:rPr sz="1700" dirty="0">
                <a:latin typeface="Arial MT"/>
                <a:cs typeface="Arial MT"/>
              </a:rPr>
              <a:t>filtering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maximum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relevance.</a:t>
            </a:r>
            <a:endParaRPr sz="1700" dirty="0">
              <a:latin typeface="Arial MT"/>
              <a:cs typeface="Arial MT"/>
            </a:endParaRPr>
          </a:p>
          <a:p>
            <a:pPr marL="200025" marR="36830">
              <a:lnSpc>
                <a:spcPct val="110300"/>
              </a:lnSpc>
            </a:pPr>
            <a:r>
              <a:rPr sz="1700" spc="-10" dirty="0" err="1" smtClean="0">
                <a:latin typeface="Arial MT"/>
                <a:cs typeface="Arial MT"/>
              </a:rPr>
              <a:t>Traine</a:t>
            </a:r>
            <a:r>
              <a:rPr lang="en-IN" sz="1700" spc="-10" dirty="0" smtClean="0">
                <a:latin typeface="Arial MT"/>
                <a:cs typeface="Arial MT"/>
              </a:rPr>
              <a:t>r</a:t>
            </a:r>
            <a:r>
              <a:rPr sz="1700" spc="-10" dirty="0" smtClean="0">
                <a:latin typeface="Arial MT"/>
                <a:cs typeface="Arial MT"/>
              </a:rPr>
              <a:t>s</a:t>
            </a:r>
            <a:r>
              <a:rPr sz="1700" spc="-60" dirty="0" smtClean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earn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upskilling</a:t>
            </a:r>
            <a:r>
              <a:rPr sz="1700" b="1" spc="-6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job</a:t>
            </a:r>
            <a:r>
              <a:rPr sz="1700" b="1" spc="-5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7030A0"/>
                </a:solidFill>
                <a:latin typeface="Arial MT"/>
                <a:cs typeface="Arial MT"/>
              </a:rPr>
              <a:t>seekers</a:t>
            </a:r>
            <a:r>
              <a:rPr sz="1700" spc="-10" dirty="0">
                <a:latin typeface="Arial MT"/>
                <a:cs typeface="Arial MT"/>
              </a:rPr>
              <a:t>; </a:t>
            </a:r>
            <a:r>
              <a:rPr sz="1700" dirty="0">
                <a:latin typeface="Arial MT"/>
                <a:cs typeface="Arial MT"/>
              </a:rPr>
              <a:t>recruiters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directly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connect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7030A0"/>
                </a:solidFill>
                <a:latin typeface="Arial MT"/>
                <a:cs typeface="Arial MT"/>
              </a:rPr>
              <a:t>hire </a:t>
            </a:r>
            <a:r>
              <a:rPr sz="1700" b="1" dirty="0">
                <a:solidFill>
                  <a:srgbClr val="7030A0"/>
                </a:solidFill>
                <a:latin typeface="Arial MT"/>
                <a:cs typeface="Arial MT"/>
              </a:rPr>
              <a:t>trained</a:t>
            </a:r>
            <a:r>
              <a:rPr sz="1700" b="1" spc="-8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7030A0"/>
                </a:solidFill>
                <a:latin typeface="Arial MT"/>
                <a:cs typeface="Arial MT"/>
              </a:rPr>
              <a:t>candidates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 advTm="6060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24807" y="1512798"/>
            <a:ext cx="5683250" cy="3341370"/>
            <a:chOff x="3124807" y="1512798"/>
            <a:chExt cx="5683250" cy="3341370"/>
          </a:xfrm>
        </p:grpSpPr>
        <p:sp>
          <p:nvSpPr>
            <p:cNvPr id="3" name="object 3"/>
            <p:cNvSpPr/>
            <p:nvPr/>
          </p:nvSpPr>
          <p:spPr>
            <a:xfrm>
              <a:off x="3134332" y="1522323"/>
              <a:ext cx="5664200" cy="3322320"/>
            </a:xfrm>
            <a:custGeom>
              <a:avLst/>
              <a:gdLst/>
              <a:ahLst/>
              <a:cxnLst/>
              <a:rect l="l" t="t" r="r" b="b"/>
              <a:pathLst>
                <a:path w="5664200" h="3322320">
                  <a:moveTo>
                    <a:pt x="5663900" y="79681"/>
                  </a:moveTo>
                  <a:lnTo>
                    <a:pt x="5663905" y="3242632"/>
                  </a:lnTo>
                  <a:lnTo>
                    <a:pt x="5636067" y="3299025"/>
                  </a:lnTo>
                  <a:lnTo>
                    <a:pt x="5568932" y="3322324"/>
                  </a:lnTo>
                  <a:lnTo>
                    <a:pt x="94865" y="3322322"/>
                  </a:lnTo>
                  <a:lnTo>
                    <a:pt x="27759" y="3298967"/>
                  </a:lnTo>
                  <a:lnTo>
                    <a:pt x="2" y="3242608"/>
                  </a:lnTo>
                  <a:lnTo>
                    <a:pt x="0" y="79680"/>
                  </a:lnTo>
                  <a:lnTo>
                    <a:pt x="7449" y="48658"/>
                  </a:lnTo>
                  <a:lnTo>
                    <a:pt x="27777" y="23331"/>
                  </a:lnTo>
                  <a:lnTo>
                    <a:pt x="57934" y="6258"/>
                  </a:lnTo>
                  <a:lnTo>
                    <a:pt x="94873" y="10"/>
                  </a:lnTo>
                  <a:lnTo>
                    <a:pt x="5568932" y="0"/>
                  </a:lnTo>
                  <a:lnTo>
                    <a:pt x="5605897" y="6220"/>
                  </a:lnTo>
                  <a:lnTo>
                    <a:pt x="5636088" y="23288"/>
                  </a:lnTo>
                  <a:lnTo>
                    <a:pt x="5656419" y="48608"/>
                  </a:lnTo>
                  <a:lnTo>
                    <a:pt x="5663902" y="7968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4334" y="2147838"/>
              <a:ext cx="3419474" cy="22383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3969" y="2209193"/>
              <a:ext cx="2800349" cy="22383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44448" y="919594"/>
            <a:ext cx="87947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45"/>
              </a:lnSpc>
            </a:pPr>
            <a:r>
              <a:rPr sz="1400" dirty="0">
                <a:latin typeface="Arial MT"/>
                <a:cs typeface="Arial MT"/>
              </a:rPr>
              <a:t>Your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Team</a:t>
            </a:r>
            <a:endParaRPr sz="1400">
              <a:latin typeface="Arial MT"/>
              <a:cs typeface="Arial MT"/>
            </a:endParaRPr>
          </a:p>
          <a:p>
            <a:pPr marR="43180" algn="ctr">
              <a:lnSpc>
                <a:spcPct val="100000"/>
              </a:lnSpc>
              <a:spcBef>
                <a:spcPts val="175"/>
              </a:spcBef>
            </a:pPr>
            <a:r>
              <a:rPr sz="1400" spc="-20" dirty="0">
                <a:latin typeface="Arial MT"/>
                <a:cs typeface="Arial MT"/>
              </a:rPr>
              <a:t>Name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7177" y="769248"/>
            <a:ext cx="2853690" cy="4045585"/>
            <a:chOff x="127177" y="769248"/>
            <a:chExt cx="2853690" cy="4045585"/>
          </a:xfrm>
        </p:grpSpPr>
        <p:sp>
          <p:nvSpPr>
            <p:cNvPr id="8" name="object 8"/>
            <p:cNvSpPr/>
            <p:nvPr/>
          </p:nvSpPr>
          <p:spPr>
            <a:xfrm>
              <a:off x="514336" y="1522324"/>
              <a:ext cx="2456815" cy="3282950"/>
            </a:xfrm>
            <a:custGeom>
              <a:avLst/>
              <a:gdLst/>
              <a:ahLst/>
              <a:cxnLst/>
              <a:rect l="l" t="t" r="r" b="b"/>
              <a:pathLst>
                <a:path w="2456815" h="3282950">
                  <a:moveTo>
                    <a:pt x="2456385" y="55050"/>
                  </a:moveTo>
                  <a:lnTo>
                    <a:pt x="2456397" y="3227674"/>
                  </a:lnTo>
                  <a:lnTo>
                    <a:pt x="2439093" y="3266641"/>
                  </a:lnTo>
                  <a:lnTo>
                    <a:pt x="2397369" y="3282715"/>
                  </a:lnTo>
                  <a:lnTo>
                    <a:pt x="58901" y="3282712"/>
                  </a:lnTo>
                  <a:lnTo>
                    <a:pt x="17222" y="3266560"/>
                  </a:lnTo>
                  <a:lnTo>
                    <a:pt x="13" y="3227648"/>
                  </a:lnTo>
                  <a:lnTo>
                    <a:pt x="0" y="55047"/>
                  </a:lnTo>
                  <a:lnTo>
                    <a:pt x="4609" y="33620"/>
                  </a:lnTo>
                  <a:lnTo>
                    <a:pt x="17231" y="16118"/>
                  </a:lnTo>
                  <a:lnTo>
                    <a:pt x="35950" y="4333"/>
                  </a:lnTo>
                  <a:lnTo>
                    <a:pt x="58916" y="0"/>
                  </a:lnTo>
                  <a:lnTo>
                    <a:pt x="2397369" y="64"/>
                  </a:lnTo>
                  <a:lnTo>
                    <a:pt x="2420364" y="4286"/>
                  </a:lnTo>
                  <a:lnTo>
                    <a:pt x="2439130" y="16089"/>
                  </a:lnTo>
                  <a:lnTo>
                    <a:pt x="2451750" y="33566"/>
                  </a:lnTo>
                  <a:lnTo>
                    <a:pt x="2456398" y="5505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361" y="2118246"/>
              <a:ext cx="66675" cy="666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361" y="3032646"/>
              <a:ext cx="66675" cy="666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361" y="3337446"/>
              <a:ext cx="66675" cy="666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177" y="769248"/>
              <a:ext cx="1781327" cy="7429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361" y="3947046"/>
              <a:ext cx="66675" cy="666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93073" y="1512817"/>
            <a:ext cx="1944370" cy="320484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 indent="351790">
              <a:lnSpc>
                <a:spcPct val="100000"/>
              </a:lnSpc>
              <a:spcBef>
                <a:spcPts val="1005"/>
              </a:spcBef>
            </a:pPr>
            <a:r>
              <a:rPr sz="1600" b="1" dirty="0">
                <a:solidFill>
                  <a:srgbClr val="1154CC"/>
                </a:solidFill>
                <a:latin typeface="Arial"/>
                <a:cs typeface="Arial"/>
              </a:rPr>
              <a:t>Tech</a:t>
            </a:r>
            <a:r>
              <a:rPr sz="1600" b="1" spc="-20" dirty="0">
                <a:solidFill>
                  <a:srgbClr val="1154CC"/>
                </a:solidFill>
                <a:latin typeface="Arial"/>
                <a:cs typeface="Arial"/>
              </a:rPr>
              <a:t> Stack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17600"/>
              </a:lnSpc>
              <a:spcBef>
                <a:spcPts val="605"/>
              </a:spcBef>
            </a:pPr>
            <a:r>
              <a:rPr sz="1700" b="1" dirty="0">
                <a:latin typeface="Arial"/>
                <a:cs typeface="Arial"/>
              </a:rPr>
              <a:t>Frontend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HTML, </a:t>
            </a:r>
            <a:r>
              <a:rPr sz="1700" dirty="0">
                <a:latin typeface="Arial MT"/>
                <a:cs typeface="Arial MT"/>
              </a:rPr>
              <a:t>CSS,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JavaScript, </a:t>
            </a:r>
            <a:r>
              <a:rPr sz="1700" dirty="0">
                <a:latin typeface="Arial MT"/>
                <a:cs typeface="Arial MT"/>
              </a:rPr>
              <a:t>Framer,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Wordpress. </a:t>
            </a:r>
            <a:r>
              <a:rPr sz="1700" b="1" dirty="0">
                <a:latin typeface="Arial"/>
                <a:cs typeface="Arial"/>
              </a:rPr>
              <a:t>Backend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Node.js </a:t>
            </a:r>
            <a:r>
              <a:rPr sz="1700" b="1" dirty="0">
                <a:latin typeface="Arial"/>
                <a:cs typeface="Arial"/>
              </a:rPr>
              <a:t>Database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Scalable NoSQL/SQL.</a:t>
            </a:r>
            <a:endParaRPr sz="1700">
              <a:latin typeface="Arial MT"/>
              <a:cs typeface="Arial MT"/>
            </a:endParaRPr>
          </a:p>
          <a:p>
            <a:pPr marL="12700" marR="111760">
              <a:lnSpc>
                <a:spcPct val="117600"/>
              </a:lnSpc>
              <a:spcBef>
                <a:spcPts val="5"/>
              </a:spcBef>
            </a:pPr>
            <a:r>
              <a:rPr sz="1700" b="1" dirty="0">
                <a:latin typeface="Arial"/>
                <a:cs typeface="Arial"/>
              </a:rPr>
              <a:t>APIs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Google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Jobs </a:t>
            </a:r>
            <a:r>
              <a:rPr sz="1700" dirty="0">
                <a:latin typeface="Arial MT"/>
                <a:cs typeface="Arial MT"/>
              </a:rPr>
              <a:t>API,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LinkedIn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API </a:t>
            </a:r>
            <a:r>
              <a:rPr sz="1700" spc="-10" dirty="0">
                <a:latin typeface="Arial MT"/>
                <a:cs typeface="Arial MT"/>
              </a:rPr>
              <a:t>integration.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 STACK + </a:t>
            </a:r>
            <a:r>
              <a:rPr spc="-10" dirty="0"/>
              <a:t>ARCHITECTURE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319685" y="1667762"/>
            <a:ext cx="12223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1154CC"/>
                </a:solidFill>
                <a:latin typeface="Arial"/>
                <a:cs typeface="Arial"/>
              </a:rPr>
              <a:t>Architecture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3408" y="828406"/>
            <a:ext cx="586105" cy="2781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7640" marR="5080" indent="-155575">
              <a:lnSpc>
                <a:spcPts val="980"/>
              </a:lnSpc>
              <a:spcBef>
                <a:spcPts val="160"/>
              </a:spcBef>
            </a:pPr>
            <a:r>
              <a:rPr sz="850" b="1" spc="-10" dirty="0">
                <a:latin typeface="Arial"/>
                <a:cs typeface="Arial"/>
              </a:rPr>
              <a:t>DevSphere India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8735" y="888038"/>
            <a:ext cx="638175" cy="4616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1115" marR="5080" indent="-19050">
              <a:lnSpc>
                <a:spcPct val="104299"/>
              </a:lnSpc>
              <a:spcBef>
                <a:spcPts val="25"/>
              </a:spcBef>
            </a:pPr>
            <a:r>
              <a:rPr sz="1400" spc="-10" dirty="0">
                <a:latin typeface="Arial MT"/>
                <a:cs typeface="Arial MT"/>
              </a:rPr>
              <a:t>Chronic Coders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457200" y="1581150"/>
            <a:ext cx="8077200" cy="3352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/>
          <p:nvPr/>
        </p:nvSpPr>
        <p:spPr>
          <a:xfrm>
            <a:off x="544296" y="889552"/>
            <a:ext cx="87947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45"/>
              </a:lnSpc>
            </a:pPr>
            <a:r>
              <a:rPr sz="1400" dirty="0">
                <a:latin typeface="Arial MT"/>
                <a:cs typeface="Arial MT"/>
              </a:rPr>
              <a:t>Your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Team</a:t>
            </a:r>
            <a:endParaRPr sz="1400">
              <a:latin typeface="Arial MT"/>
              <a:cs typeface="Arial MT"/>
            </a:endParaRPr>
          </a:p>
          <a:p>
            <a:pPr marR="43180" algn="ctr">
              <a:lnSpc>
                <a:spcPct val="100000"/>
              </a:lnSpc>
              <a:spcBef>
                <a:spcPts val="175"/>
              </a:spcBef>
            </a:pPr>
            <a:r>
              <a:rPr sz="1400" spc="-20" dirty="0">
                <a:latin typeface="Arial MT"/>
                <a:cs typeface="Arial MT"/>
              </a:rPr>
              <a:t>Name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92022" y="586670"/>
            <a:ext cx="5323205" cy="520065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1900" spc="-10" dirty="0"/>
              <a:t>FEASIBILITY</a:t>
            </a:r>
            <a:r>
              <a:rPr sz="1900" spc="-50" dirty="0"/>
              <a:t> </a:t>
            </a:r>
            <a:r>
              <a:rPr sz="1900" dirty="0"/>
              <a:t>AND</a:t>
            </a:r>
            <a:r>
              <a:rPr sz="1900" spc="-50" dirty="0"/>
              <a:t> </a:t>
            </a:r>
            <a:r>
              <a:rPr sz="1900" spc="-10" dirty="0"/>
              <a:t>SHOWSTOPPERS</a:t>
            </a:r>
            <a:r>
              <a:rPr sz="1900" spc="-35" dirty="0"/>
              <a:t> </a:t>
            </a:r>
            <a:r>
              <a:rPr sz="1275" spc="-15" baseline="-29411" dirty="0">
                <a:latin typeface="Arial"/>
                <a:cs typeface="Arial"/>
              </a:rPr>
              <a:t>DevSphere</a:t>
            </a:r>
            <a:endParaRPr sz="1275" baseline="-29411">
              <a:latin typeface="Arial"/>
              <a:cs typeface="Arial"/>
            </a:endParaRPr>
          </a:p>
          <a:p>
            <a:pPr marR="185420" algn="r">
              <a:lnSpc>
                <a:spcPct val="100000"/>
              </a:lnSpc>
              <a:spcBef>
                <a:spcPts val="175"/>
              </a:spcBef>
            </a:pPr>
            <a:r>
              <a:rPr sz="850" spc="-10" dirty="0">
                <a:latin typeface="Arial"/>
                <a:cs typeface="Arial"/>
              </a:rPr>
              <a:t>India</a:t>
            </a:r>
            <a:endParaRPr sz="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426" y="1698885"/>
            <a:ext cx="7666990" cy="3051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700" b="1" i="1" spc="-10" dirty="0">
                <a:solidFill>
                  <a:srgbClr val="1154CC"/>
                </a:solidFill>
                <a:latin typeface="Arial"/>
                <a:cs typeface="Arial"/>
              </a:rPr>
              <a:t>Feasibility</a:t>
            </a:r>
            <a:endParaRPr sz="1700" i="1" dirty="0">
              <a:latin typeface="Arial"/>
              <a:cs typeface="Arial"/>
            </a:endParaRPr>
          </a:p>
          <a:p>
            <a:pPr marL="639445" indent="-285750">
              <a:lnSpc>
                <a:spcPct val="100000"/>
              </a:lnSpc>
              <a:spcBef>
                <a:spcPts val="1405"/>
              </a:spcBef>
              <a:buFont typeface="Wingdings" panose="05000000000000000000" pitchFamily="2" charset="2"/>
              <a:buChar char="q"/>
            </a:pPr>
            <a:r>
              <a:rPr sz="1550" dirty="0">
                <a:latin typeface="Arial MT"/>
                <a:cs typeface="Arial MT"/>
              </a:rPr>
              <a:t>Team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skilled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in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web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development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API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integrations.</a:t>
            </a:r>
            <a:endParaRPr sz="1550" dirty="0">
              <a:latin typeface="Arial MT"/>
              <a:cs typeface="Arial MT"/>
            </a:endParaRPr>
          </a:p>
          <a:p>
            <a:pPr marL="639445" indent="-285750">
              <a:lnSpc>
                <a:spcPct val="100000"/>
              </a:lnSpc>
              <a:spcBef>
                <a:spcPts val="355"/>
              </a:spcBef>
              <a:buFont typeface="Wingdings" panose="05000000000000000000" pitchFamily="2" charset="2"/>
              <a:buChar char="q"/>
            </a:pPr>
            <a:r>
              <a:rPr sz="1550" dirty="0">
                <a:latin typeface="Arial MT"/>
                <a:cs typeface="Arial MT"/>
              </a:rPr>
              <a:t>Social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platform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APIs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scalable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databases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readily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available.</a:t>
            </a:r>
            <a:endParaRPr sz="1550" dirty="0">
              <a:latin typeface="Arial MT"/>
              <a:cs typeface="Arial MT"/>
            </a:endParaRPr>
          </a:p>
          <a:p>
            <a:pPr marL="639445" indent="-285750">
              <a:lnSpc>
                <a:spcPct val="100000"/>
              </a:lnSpc>
              <a:spcBef>
                <a:spcPts val="355"/>
              </a:spcBef>
              <a:buFont typeface="Wingdings" panose="05000000000000000000" pitchFamily="2" charset="2"/>
              <a:buChar char="q"/>
            </a:pPr>
            <a:r>
              <a:rPr sz="1550" dirty="0">
                <a:latin typeface="Arial MT"/>
                <a:cs typeface="Arial MT"/>
              </a:rPr>
              <a:t>Project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scope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designed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fit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hackathon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timelines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with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progressive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scaling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in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mind.</a:t>
            </a:r>
            <a:endParaRPr sz="15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55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b="1" i="1" spc="-10" dirty="0">
                <a:solidFill>
                  <a:srgbClr val="1154CC"/>
                </a:solidFill>
                <a:latin typeface="Arial"/>
                <a:cs typeface="Arial"/>
              </a:rPr>
              <a:t>Showstoppers</a:t>
            </a:r>
            <a:endParaRPr sz="1700" i="1" dirty="0">
              <a:solidFill>
                <a:srgbClr val="1154CC"/>
              </a:solidFill>
              <a:latin typeface="Arial"/>
              <a:cs typeface="Arial"/>
            </a:endParaRPr>
          </a:p>
          <a:p>
            <a:pPr marL="353695">
              <a:lnSpc>
                <a:spcPct val="100000"/>
              </a:lnSpc>
              <a:spcBef>
                <a:spcPts val="1400"/>
              </a:spcBef>
            </a:pPr>
            <a:r>
              <a:rPr sz="1550" dirty="0">
                <a:latin typeface="Arial MT"/>
                <a:cs typeface="Arial MT"/>
              </a:rPr>
              <a:t>Possible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API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access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limitations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low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initial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user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engagement.</a:t>
            </a:r>
            <a:endParaRPr sz="1550" dirty="0">
              <a:latin typeface="Arial MT"/>
              <a:cs typeface="Arial MT"/>
            </a:endParaRPr>
          </a:p>
          <a:p>
            <a:pPr marL="353695" marR="386080">
              <a:lnSpc>
                <a:spcPct val="116900"/>
              </a:lnSpc>
            </a:pPr>
            <a:r>
              <a:rPr sz="1550" dirty="0">
                <a:latin typeface="Arial MT"/>
                <a:cs typeface="Arial MT"/>
              </a:rPr>
              <a:t>Mitigation: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Backup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scraping/crowdsourcing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for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jobs,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ambassador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programs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-25" dirty="0">
                <a:latin typeface="Arial MT"/>
                <a:cs typeface="Arial MT"/>
              </a:rPr>
              <a:t>for </a:t>
            </a:r>
            <a:r>
              <a:rPr sz="1550" spc="-10" dirty="0">
                <a:latin typeface="Arial MT"/>
                <a:cs typeface="Arial MT"/>
              </a:rPr>
              <a:t>outreach.</a:t>
            </a:r>
            <a:endParaRPr sz="1550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177" y="736238"/>
            <a:ext cx="1781174" cy="7459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98735" y="855028"/>
            <a:ext cx="638175" cy="4616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1115" marR="5080" indent="-19050">
              <a:lnSpc>
                <a:spcPct val="104299"/>
              </a:lnSpc>
              <a:spcBef>
                <a:spcPts val="25"/>
              </a:spcBef>
            </a:pPr>
            <a:r>
              <a:rPr sz="1400" spc="-10" dirty="0">
                <a:latin typeface="Arial MT"/>
                <a:cs typeface="Arial MT"/>
              </a:rPr>
              <a:t>Chronic Coders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4570742" y="1484910"/>
            <a:ext cx="3886200" cy="357415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ounded Rectangle 17"/>
          <p:cNvSpPr/>
          <p:nvPr/>
        </p:nvSpPr>
        <p:spPr>
          <a:xfrm>
            <a:off x="304799" y="1500029"/>
            <a:ext cx="4096079" cy="357415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30" y="150123"/>
            <a:ext cx="809624" cy="619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7765" y="153114"/>
            <a:ext cx="523874" cy="523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6906" y="111337"/>
            <a:ext cx="857249" cy="828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4296" y="919594"/>
            <a:ext cx="87947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45"/>
              </a:lnSpc>
            </a:pPr>
            <a:r>
              <a:rPr sz="1400" dirty="0">
                <a:latin typeface="Arial MT"/>
                <a:cs typeface="Arial MT"/>
              </a:rPr>
              <a:t>Your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Team</a:t>
            </a:r>
            <a:endParaRPr sz="1400">
              <a:latin typeface="Arial MT"/>
              <a:cs typeface="Arial MT"/>
            </a:endParaRPr>
          </a:p>
          <a:p>
            <a:pPr marR="43180" algn="ctr">
              <a:lnSpc>
                <a:spcPct val="100000"/>
              </a:lnSpc>
              <a:spcBef>
                <a:spcPts val="175"/>
              </a:spcBef>
            </a:pPr>
            <a:r>
              <a:rPr sz="1400" spc="-20" dirty="0">
                <a:latin typeface="Arial MT"/>
                <a:cs typeface="Arial MT"/>
              </a:rPr>
              <a:t>Name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53439" y="484397"/>
            <a:ext cx="4824095" cy="749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44575" marR="5080" indent="-1032510">
              <a:lnSpc>
                <a:spcPct val="110500"/>
              </a:lnSpc>
              <a:spcBef>
                <a:spcPts val="90"/>
              </a:spcBef>
            </a:pPr>
            <a:r>
              <a:rPr sz="2150" dirty="0"/>
              <a:t>USP(UNIQUE</a:t>
            </a:r>
            <a:r>
              <a:rPr sz="2150" spc="75" dirty="0"/>
              <a:t> </a:t>
            </a:r>
            <a:r>
              <a:rPr sz="2150" dirty="0"/>
              <a:t>SELLING</a:t>
            </a:r>
            <a:r>
              <a:rPr sz="2150" spc="75" dirty="0"/>
              <a:t> </a:t>
            </a:r>
            <a:r>
              <a:rPr sz="2150" dirty="0"/>
              <a:t>PRICE)</a:t>
            </a:r>
            <a:r>
              <a:rPr sz="2150" spc="75" dirty="0"/>
              <a:t> </a:t>
            </a:r>
            <a:r>
              <a:rPr sz="2150" spc="-50" dirty="0"/>
              <a:t>&amp; </a:t>
            </a:r>
            <a:r>
              <a:rPr sz="2150" dirty="0"/>
              <a:t>BUSINESS</a:t>
            </a:r>
            <a:r>
              <a:rPr sz="2150" spc="70" dirty="0"/>
              <a:t> </a:t>
            </a:r>
            <a:r>
              <a:rPr sz="2150" spc="-10" dirty="0"/>
              <a:t>MODEL</a:t>
            </a:r>
            <a:endParaRPr sz="2150"/>
          </a:p>
        </p:txBody>
      </p:sp>
      <p:sp>
        <p:nvSpPr>
          <p:cNvPr id="11" name="object 11"/>
          <p:cNvSpPr txBox="1">
            <a:spLocks noGrp="1"/>
          </p:cNvSpPr>
          <p:nvPr>
            <p:ph sz="half" idx="3"/>
          </p:nvPr>
        </p:nvSpPr>
        <p:spPr>
          <a:xfrm>
            <a:off x="4740604" y="1764496"/>
            <a:ext cx="3546475" cy="3014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 smtClean="0"/>
              <a:t>                  </a:t>
            </a:r>
            <a:r>
              <a:rPr dirty="0" smtClean="0"/>
              <a:t>BUSINESS</a:t>
            </a:r>
            <a:r>
              <a:rPr spc="-75" dirty="0" smtClean="0"/>
              <a:t> </a:t>
            </a:r>
            <a:r>
              <a:rPr spc="-20" dirty="0"/>
              <a:t>MODEL</a:t>
            </a:r>
          </a:p>
          <a:p>
            <a:pPr marL="39370" marR="236220">
              <a:lnSpc>
                <a:spcPct val="116700"/>
              </a:lnSpc>
              <a:spcBef>
                <a:spcPts val="800"/>
              </a:spcBef>
            </a:pPr>
            <a:r>
              <a:rPr sz="1500" dirty="0">
                <a:solidFill>
                  <a:srgbClr val="000000"/>
                </a:solidFill>
              </a:rPr>
              <a:t>Trainer</a:t>
            </a:r>
            <a:r>
              <a:rPr sz="1500" spc="-55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Revenue</a:t>
            </a:r>
            <a:r>
              <a:rPr sz="1500" spc="-50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Share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:</a:t>
            </a:r>
            <a:r>
              <a:rPr sz="15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Certified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trainers</a:t>
            </a:r>
            <a:r>
              <a:rPr sz="15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pay</a:t>
            </a:r>
            <a:r>
              <a:rPr sz="15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5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small</a:t>
            </a:r>
            <a:r>
              <a:rPr sz="15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platform</a:t>
            </a:r>
            <a:r>
              <a:rPr sz="15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fee</a:t>
            </a:r>
            <a:r>
              <a:rPr sz="15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20" dirty="0">
                <a:solidFill>
                  <a:srgbClr val="000000"/>
                </a:solidFill>
                <a:latin typeface="Arial MT"/>
                <a:cs typeface="Arial MT"/>
              </a:rPr>
              <a:t>from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earnings,</a:t>
            </a:r>
            <a:r>
              <a:rPr sz="1500"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ensuring</a:t>
            </a:r>
            <a:r>
              <a:rPr sz="15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sustainable</a:t>
            </a:r>
            <a:r>
              <a:rPr sz="15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funding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1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incentivizing</a:t>
            </a:r>
            <a:r>
              <a:rPr sz="1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quality</a:t>
            </a:r>
            <a:r>
              <a:rPr sz="1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skill</a:t>
            </a:r>
            <a:r>
              <a:rPr sz="1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delivery.</a:t>
            </a:r>
            <a:endParaRPr sz="1500" dirty="0">
              <a:latin typeface="Arial MT"/>
              <a:cs typeface="Arial MT"/>
            </a:endParaRPr>
          </a:p>
          <a:p>
            <a:pPr marL="39370" marR="5080">
              <a:lnSpc>
                <a:spcPct val="116700"/>
              </a:lnSpc>
            </a:pPr>
            <a:r>
              <a:rPr sz="1500" dirty="0">
                <a:solidFill>
                  <a:srgbClr val="000000"/>
                </a:solidFill>
              </a:rPr>
              <a:t>Freemium</a:t>
            </a:r>
            <a:r>
              <a:rPr sz="1500" spc="-35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Subscription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:</a:t>
            </a:r>
            <a:r>
              <a:rPr sz="15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Free</a:t>
            </a:r>
            <a:r>
              <a:rPr sz="15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20" dirty="0">
                <a:solidFill>
                  <a:srgbClr val="000000"/>
                </a:solidFill>
                <a:latin typeface="Arial MT"/>
                <a:cs typeface="Arial MT"/>
              </a:rPr>
              <a:t>core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access;</a:t>
            </a:r>
            <a:r>
              <a:rPr sz="15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premium</a:t>
            </a:r>
            <a:r>
              <a:rPr sz="15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services</a:t>
            </a:r>
            <a:r>
              <a:rPr sz="15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15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job</a:t>
            </a:r>
            <a:r>
              <a:rPr sz="15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seekers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include</a:t>
            </a:r>
            <a:r>
              <a:rPr sz="15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enhanced</a:t>
            </a:r>
            <a:r>
              <a:rPr sz="15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matching,</a:t>
            </a:r>
            <a:r>
              <a:rPr sz="15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featured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training</a:t>
            </a:r>
            <a:r>
              <a:rPr sz="1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modules,</a:t>
            </a:r>
            <a:r>
              <a:rPr sz="1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15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direct</a:t>
            </a:r>
            <a:r>
              <a:rPr sz="1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recruiter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messaging.</a:t>
            </a:r>
            <a:r>
              <a:rPr sz="15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Paid</a:t>
            </a:r>
            <a:r>
              <a:rPr sz="15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upgrades</a:t>
            </a:r>
            <a:r>
              <a:rPr sz="15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unlock</a:t>
            </a:r>
            <a:r>
              <a:rPr sz="1500"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better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outcomes</a:t>
            </a:r>
            <a:r>
              <a:rPr sz="15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15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support</a:t>
            </a:r>
            <a:r>
              <a:rPr sz="15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platform</a:t>
            </a:r>
            <a:r>
              <a:rPr sz="15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growth.</a:t>
            </a:r>
            <a:endParaRPr sz="1500" dirty="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177" y="769248"/>
            <a:ext cx="1781174" cy="74294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sz="half" idx="2"/>
          </p:nvPr>
        </p:nvSpPr>
        <p:spPr>
          <a:xfrm>
            <a:off x="572649" y="1643171"/>
            <a:ext cx="3460115" cy="307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88110" algn="ctr">
              <a:lnSpc>
                <a:spcPct val="112100"/>
              </a:lnSpc>
              <a:spcBef>
                <a:spcPts val="100"/>
              </a:spcBef>
            </a:pPr>
            <a:r>
              <a:rPr dirty="0" smtClean="0"/>
              <a:t>USP</a:t>
            </a:r>
            <a:r>
              <a:rPr spc="-55" dirty="0" smtClean="0"/>
              <a:t> </a:t>
            </a:r>
            <a:r>
              <a:rPr dirty="0" smtClean="0"/>
              <a:t>(UNIQUE</a:t>
            </a:r>
            <a:r>
              <a:rPr spc="-50" dirty="0" smtClean="0"/>
              <a:t> </a:t>
            </a:r>
            <a:r>
              <a:rPr spc="-10" dirty="0" smtClean="0"/>
              <a:t>SELLING</a:t>
            </a:r>
            <a:r>
              <a:rPr lang="en-IN" spc="-10" dirty="0" smtClean="0"/>
              <a:t> </a:t>
            </a:r>
            <a:r>
              <a:rPr spc="-10" dirty="0" smtClean="0"/>
              <a:t>PRICE)</a:t>
            </a:r>
          </a:p>
          <a:p>
            <a:pPr marL="173990" marR="5080">
              <a:lnSpc>
                <a:spcPct val="116700"/>
              </a:lnSpc>
              <a:spcBef>
                <a:spcPts val="470"/>
              </a:spcBef>
            </a:pPr>
            <a:r>
              <a:rPr sz="1500" dirty="0" smtClean="0">
                <a:solidFill>
                  <a:srgbClr val="000000"/>
                </a:solidFill>
              </a:rPr>
              <a:t>Three-Sided</a:t>
            </a:r>
            <a:r>
              <a:rPr sz="1500" spc="125" dirty="0" smtClean="0">
                <a:solidFill>
                  <a:srgbClr val="000000"/>
                </a:solidFill>
              </a:rPr>
              <a:t> </a:t>
            </a:r>
            <a:r>
              <a:rPr sz="1500" dirty="0" smtClean="0">
                <a:solidFill>
                  <a:srgbClr val="000000"/>
                </a:solidFill>
              </a:rPr>
              <a:t>Ecosystem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:</a:t>
            </a:r>
            <a:r>
              <a:rPr sz="1500" b="0" spc="130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 smtClean="0">
                <a:solidFill>
                  <a:srgbClr val="000000"/>
                </a:solidFill>
                <a:latin typeface="Arial MT"/>
                <a:cs typeface="Arial MT"/>
              </a:rPr>
              <a:t>Integrates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job</a:t>
            </a:r>
            <a:r>
              <a:rPr sz="1500" b="0" spc="60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seekers,</a:t>
            </a:r>
            <a:r>
              <a:rPr sz="1500" b="0" spc="65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recruiters,</a:t>
            </a:r>
            <a:r>
              <a:rPr sz="1500" b="0" spc="65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1500" b="0" spc="65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 smtClean="0">
                <a:solidFill>
                  <a:srgbClr val="000000"/>
                </a:solidFill>
                <a:latin typeface="Arial MT"/>
                <a:cs typeface="Arial MT"/>
              </a:rPr>
              <a:t>trainers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lang="en-IN" sz="1500" b="0" dirty="0" smtClean="0">
                <a:solidFill>
                  <a:srgbClr val="000000"/>
                </a:solidFill>
                <a:latin typeface="Arial MT"/>
                <a:cs typeface="Arial MT"/>
              </a:rPr>
              <a:t>trainers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)</a:t>
            </a:r>
            <a:r>
              <a:rPr sz="1500" b="0" spc="50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sz="1500" b="0" spc="50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500" b="0" spc="55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single,</a:t>
            </a:r>
            <a:r>
              <a:rPr sz="1500" b="0" spc="50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shared</a:t>
            </a:r>
            <a:r>
              <a:rPr sz="1500" b="0" spc="55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 smtClean="0">
                <a:solidFill>
                  <a:srgbClr val="000000"/>
                </a:solidFill>
                <a:latin typeface="Arial MT"/>
                <a:cs typeface="Arial MT"/>
              </a:rPr>
              <a:t>platform,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creating</a:t>
            </a:r>
            <a:r>
              <a:rPr sz="1500" b="0" spc="60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direct</a:t>
            </a:r>
            <a:r>
              <a:rPr sz="1500" b="0" spc="65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mutual</a:t>
            </a:r>
            <a:r>
              <a:rPr sz="1500" b="0" spc="65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value</a:t>
            </a:r>
            <a:r>
              <a:rPr sz="1500" b="0" spc="65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 smtClean="0">
                <a:solidFill>
                  <a:srgbClr val="000000"/>
                </a:solidFill>
                <a:latin typeface="Arial MT"/>
                <a:cs typeface="Arial MT"/>
              </a:rPr>
              <a:t>between </a:t>
            </a:r>
            <a:r>
              <a:rPr sz="1500" b="0" dirty="0" smtClean="0">
                <a:solidFill>
                  <a:srgbClr val="000000"/>
                </a:solidFill>
                <a:latin typeface="Arial MT"/>
                <a:cs typeface="Arial MT"/>
              </a:rPr>
              <a:t>all</a:t>
            </a:r>
            <a:r>
              <a:rPr sz="1500" b="0" spc="15" dirty="0" smtClean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 smtClean="0">
                <a:solidFill>
                  <a:srgbClr val="000000"/>
                </a:solidFill>
                <a:latin typeface="Arial MT"/>
                <a:cs typeface="Arial MT"/>
              </a:rPr>
              <a:t>stakeholders.</a:t>
            </a:r>
            <a:endParaRPr lang="en-IN" sz="1500" dirty="0" smtClean="0">
              <a:latin typeface="Arial MT"/>
              <a:cs typeface="Arial MT"/>
            </a:endParaRPr>
          </a:p>
          <a:p>
            <a:pPr marL="173990" marR="5080">
              <a:lnSpc>
                <a:spcPct val="116700"/>
              </a:lnSpc>
              <a:spcBef>
                <a:spcPts val="470"/>
              </a:spcBef>
            </a:pPr>
            <a:r>
              <a:rPr sz="1500" dirty="0" smtClean="0">
                <a:solidFill>
                  <a:srgbClr val="000000"/>
                </a:solidFill>
              </a:rPr>
              <a:t>Skill-to-Job</a:t>
            </a:r>
            <a:r>
              <a:rPr sz="1500" spc="110" dirty="0" smtClean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Mapping</a:t>
            </a:r>
            <a:r>
              <a:rPr sz="1500" spc="114" dirty="0">
                <a:solidFill>
                  <a:srgbClr val="000000"/>
                </a:solidFill>
              </a:rPr>
              <a:t> </a:t>
            </a:r>
            <a:r>
              <a:rPr sz="1500" spc="-10" dirty="0">
                <a:solidFill>
                  <a:srgbClr val="000000"/>
                </a:solidFill>
              </a:rPr>
              <a:t>Engine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: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Connects</a:t>
            </a:r>
            <a:r>
              <a:rPr sz="1500" b="0" spc="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skill</a:t>
            </a:r>
            <a:r>
              <a:rPr sz="1500" b="0" spc="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acquisition</a:t>
            </a:r>
            <a:r>
              <a:rPr sz="1500" b="0" spc="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directly</a:t>
            </a:r>
            <a:r>
              <a:rPr sz="1500" b="0" spc="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20" dirty="0">
                <a:solidFill>
                  <a:srgbClr val="000000"/>
                </a:solidFill>
                <a:latin typeface="Arial MT"/>
                <a:cs typeface="Arial MT"/>
              </a:rPr>
              <a:t>with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job</a:t>
            </a:r>
            <a:r>
              <a:rPr sz="1500" b="0" spc="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opportunities,</a:t>
            </a:r>
            <a:r>
              <a:rPr sz="1500" b="0" spc="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using</a:t>
            </a:r>
            <a:r>
              <a:rPr sz="1500" b="0" spc="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integrated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APIs</a:t>
            </a:r>
            <a:r>
              <a:rPr sz="1500" b="0" spc="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1500" b="0" spc="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precise,</a:t>
            </a:r>
            <a:r>
              <a:rPr sz="1500" b="0" spc="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000000"/>
                </a:solidFill>
                <a:latin typeface="Arial MT"/>
                <a:cs typeface="Arial MT"/>
              </a:rPr>
              <a:t>localized</a:t>
            </a:r>
            <a:r>
              <a:rPr sz="1500" b="0" spc="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000000"/>
                </a:solidFill>
                <a:latin typeface="Arial MT"/>
                <a:cs typeface="Arial MT"/>
              </a:rPr>
              <a:t>results.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03408" y="828406"/>
            <a:ext cx="586105" cy="2781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7640" marR="5080" indent="-155575">
              <a:lnSpc>
                <a:spcPts val="980"/>
              </a:lnSpc>
              <a:spcBef>
                <a:spcPts val="160"/>
              </a:spcBef>
            </a:pPr>
            <a:r>
              <a:rPr sz="850" b="1" spc="-10" dirty="0">
                <a:latin typeface="Arial"/>
                <a:cs typeface="Arial"/>
              </a:rPr>
              <a:t>DevSphere India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8735" y="888038"/>
            <a:ext cx="638175" cy="4616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1115" marR="5080" indent="-19050">
              <a:lnSpc>
                <a:spcPct val="104299"/>
              </a:lnSpc>
              <a:spcBef>
                <a:spcPts val="25"/>
              </a:spcBef>
            </a:pPr>
            <a:r>
              <a:rPr sz="1400" spc="-10" dirty="0">
                <a:latin typeface="Arial MT"/>
                <a:cs typeface="Arial MT"/>
              </a:rPr>
              <a:t>Chronic Coders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Words>493</Words>
  <Application>Microsoft Office PowerPoint</Application>
  <PresentationFormat>On-screen Show (16:9)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Georgia</vt:lpstr>
      <vt:lpstr>Wingdings</vt:lpstr>
      <vt:lpstr>Office Theme</vt:lpstr>
      <vt:lpstr>CODESLAYER2k25</vt:lpstr>
      <vt:lpstr>PROBLEM STATEMENT &amp; TARGET AUDIENCE</vt:lpstr>
      <vt:lpstr>OUR UNIQUE SOLUTION</vt:lpstr>
      <vt:lpstr>TECH STACK + ARCHITECTURE</vt:lpstr>
      <vt:lpstr>FEASIBILITY AND SHOWSTOPPERS DevSphere India</vt:lpstr>
      <vt:lpstr>USP(UNIQUE SELLING PRICE) &amp; BUSINESS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Codeslayer_ppt_submission.pdf</dc:title>
  <dc:creator>Arham Ahmad</dc:creator>
  <cp:keywords>DAG1H0Lwp84,BAGdHSoQWbQ,0</cp:keywords>
  <cp:lastModifiedBy>LENOVO</cp:lastModifiedBy>
  <cp:revision>17</cp:revision>
  <dcterms:created xsi:type="dcterms:W3CDTF">2025-10-13T08:58:39Z</dcterms:created>
  <dcterms:modified xsi:type="dcterms:W3CDTF">2025-10-14T15:42:20Z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2025-10-10T00:00:00Z</vt:filetime>
  </property>
  <property fmtid="{D5CDD505-2E9C-101B-9397-08002B2CF9AE}" pid="3" name="Creator">
    <vt:lpwstr>Canva</vt:lpwstr>
  </property>
  <property fmtid="{D5CDD505-2E9C-101B-9397-08002B2CF9AE}" pid="4" name="LastSaved">
    <vt:filetime>2025-10-13T00:00:00Z</vt:filetime>
  </property>
  <property fmtid="{D5CDD505-2E9C-101B-9397-08002B2CF9AE}" pid="5" name="Producer">
    <vt:lpwstr>Canva</vt:lpwstr>
  </property>
</Properties>
</file>